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75" r:id="rId3"/>
    <p:sldId id="264" r:id="rId4"/>
    <p:sldId id="271" r:id="rId5"/>
    <p:sldId id="266" r:id="rId6"/>
    <p:sldId id="273" r:id="rId7"/>
    <p:sldId id="274" r:id="rId8"/>
    <p:sldId id="267" r:id="rId9"/>
    <p:sldId id="272" r:id="rId10"/>
    <p:sldId id="269" r:id="rId11"/>
    <p:sldId id="26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F2D"/>
    <a:srgbClr val="00795A"/>
    <a:srgbClr val="61A4C5"/>
    <a:srgbClr val="0F354E"/>
    <a:srgbClr val="75BB5B"/>
    <a:srgbClr val="FAA942"/>
    <a:srgbClr val="6F6447"/>
    <a:srgbClr val="93B94A"/>
    <a:srgbClr val="21628D"/>
    <a:srgbClr val="005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 autoAdjust="0"/>
    <p:restoredTop sz="86457"/>
  </p:normalViewPr>
  <p:slideViewPr>
    <p:cSldViewPr snapToGrid="0" showGuides="1">
      <p:cViewPr varScale="1">
        <p:scale>
          <a:sx n="155" d="100"/>
          <a:sy n="155" d="100"/>
        </p:scale>
        <p:origin x="81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6" d="100"/>
          <a:sy n="156" d="100"/>
        </p:scale>
        <p:origin x="44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328FA-D513-474A-9414-58CCBADCB715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DDEA2-58A5-4C53-A1B6-D6A29C27D5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9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36D9774C-14B8-4753-8512-25172AC04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1E7B4D9-AAC9-46EB-91F6-27E19F6A79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3155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600" y="4536478"/>
            <a:ext cx="5440469" cy="544046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42FA4C-98F6-43BB-887D-3BD56E67DE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331978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itel 11">
            <a:extLst>
              <a:ext uri="{FF2B5EF4-FFF2-40B4-BE49-F238E27FC236}">
                <a16:creationId xmlns:a16="http://schemas.microsoft.com/office/drawing/2014/main" id="{8AB7281D-1953-49D0-B329-5447D645E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C0311F9-66C5-4952-BB97-F6B58511C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34945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600" y="4137765"/>
            <a:ext cx="5440469" cy="54404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A45D29-C32A-4661-BBA6-665111978F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26CBD8C5-8725-4775-9387-A961991CB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54CB38D-676A-44BF-AD8E-9BE55EB69A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72893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0B569B-D5C4-41D0-98C6-B6D861106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387065"/>
            <a:ext cx="10855071" cy="424447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6" name="Titel 11">
            <a:extLst>
              <a:ext uri="{FF2B5EF4-FFF2-40B4-BE49-F238E27FC236}">
                <a16:creationId xmlns:a16="http://schemas.microsoft.com/office/drawing/2014/main" id="{C2B5FF1A-A476-4C2C-98BD-98B71C8501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57950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4BA15C79-5280-410A-A43F-53C5A734E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021305"/>
            <a:ext cx="10855071" cy="461023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</p:spTree>
    <p:extLst>
      <p:ext uri="{BB962C8B-B14F-4D97-AF65-F5344CB8AC3E}">
        <p14:creationId xmlns:p14="http://schemas.microsoft.com/office/powerpoint/2010/main" val="58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9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5963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77851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CB99324-6A91-47F9-A672-35C7EFF32E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6" name="Titel 11">
            <a:extLst>
              <a:ext uri="{FF2B5EF4-FFF2-40B4-BE49-F238E27FC236}">
                <a16:creationId xmlns:a16="http://schemas.microsoft.com/office/drawing/2014/main" id="{DB8A2310-7569-42A4-9377-F6A1F182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6066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6245" y="2573458"/>
            <a:ext cx="5380037" cy="395246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2585362"/>
            <a:ext cx="5475314" cy="394056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72017B6-6E22-4373-AC89-48470451F8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6245" y="1985629"/>
            <a:ext cx="5380037" cy="597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B5621AC4-0464-4423-8577-EFB1774108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1987672"/>
            <a:ext cx="5475314" cy="583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53F7550E-902E-4004-858B-B1822A31E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5642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94" y="232380"/>
            <a:ext cx="2114320" cy="21143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90" y="790199"/>
            <a:ext cx="3446210" cy="3446210"/>
          </a:xfrm>
          <a:prstGeom prst="rect">
            <a:avLst/>
          </a:prstGeom>
        </p:spPr>
      </p:pic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D380C10-159B-4DBC-9718-0773520D1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E4D85D58-F7D8-4800-9967-B091A59EA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B539A8A0-638E-41B5-8721-4F6B6395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10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4498545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895" y="3327432"/>
            <a:ext cx="2571927" cy="2571927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464DE02-A19F-48B8-B92E-4C5077D282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5" y="2359455"/>
            <a:ext cx="10855068" cy="42661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B6B2E85-8429-4966-9981-B9D47C2E6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8C5E27D-A7B8-485C-9F13-EC8E29AE0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9963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7" y="0"/>
            <a:ext cx="12210947" cy="6946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5" name="Titel 11">
            <a:extLst>
              <a:ext uri="{FF2B5EF4-FFF2-40B4-BE49-F238E27FC236}">
                <a16:creationId xmlns:a16="http://schemas.microsoft.com/office/drawing/2014/main" id="{E3BA9D4B-933C-4D99-AE62-364B11B36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91504D8-EADE-49B0-94AC-CB42CC4E6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8902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689840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3A788AC6-92F9-6A79-E63D-26E55375F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2955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86DD3BD5-C08A-491F-8E43-8E37CD030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9E1B8CA1-0AAF-4EB7-BC03-53B9D185F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708483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13506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8EB2CB8-4CD4-4909-ACFC-2E7E364447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C6D04D94-CBF2-426F-B5BC-A31F510A2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0AC2C87-FA61-42D7-B5D5-3B3EFBE7F0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94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8728043-D213-4BCD-A66F-E656F580AC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5004AD0-4CFB-4F75-A94E-86543FB084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13172C72-3725-4A1C-8520-B7D0A485A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7362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637" y="-1143340"/>
            <a:ext cx="3662833" cy="36628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799" y="602646"/>
            <a:ext cx="3821316" cy="3821316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A6D17BB-D977-4A99-A19D-987E1FB9B7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29240B3-BAE2-46FF-AF98-7BF714C97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CCD4ABB-C455-4BDE-8F24-165EC971A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86375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3600481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23" y="3699401"/>
            <a:ext cx="2552878" cy="2552878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385222E-ADD5-48C5-BC18-2B64CA9BB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0BEFF0A-B831-413B-B768-3E0FF6B5E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94FC60C5-182E-4593-A258-42773BD20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2223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873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EE33A2D0-A7A3-431F-BC02-7AAC945F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EEA67C5-3661-47AB-834A-E4590821CF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523852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724372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E677F354-CFC6-D947-F29D-A0692FE991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1FAB93BA-F482-4037-A388-E119DC1B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D726F1B-4CB5-43C8-A1B5-3A60E70862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884485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07434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C3EBFE8-A1A6-4C47-8748-F16526CC19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3954FDCF-ECC1-4B68-9581-BFF3CBB99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EC4F5A0-05B2-4841-A146-D791490380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460142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6622D17-7CF6-4F64-9DA6-B690190D1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D22DB70-FC0C-47F4-8224-3A3C572573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1AFA7672-2C98-44D1-BD7D-8C7BAF501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19311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133" y="354070"/>
            <a:ext cx="2607442" cy="26074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74" y="-2468019"/>
            <a:ext cx="4244280" cy="424428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A89A8A-57C4-4C2B-9142-109111690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BB06432-DEBE-4A31-94B9-2898D0C67C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E819BFCD-B1A0-4710-9ED8-0163609E8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89133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03" y="4853623"/>
            <a:ext cx="4522512" cy="452251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01307"/>
            <a:ext cx="3287506" cy="3287506"/>
          </a:xfrm>
          <a:prstGeom prst="rect">
            <a:avLst/>
          </a:prstGeom>
        </p:spPr>
      </p:pic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3B21FFA7-A41E-40BC-9374-33FB80A66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4E19685-2607-4E7E-925E-C3B9B2F772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BFE9D70-69FC-4676-9C31-4948D87F0A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4E76D2F-8E7B-4A76-8711-1224277AF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2155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8594FBB4-8B55-450B-A4F1-5EB697B14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CE8E8FEF-605D-4D3A-9033-2691DD01F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93257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4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828" y="4704544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A8E71611-78A7-E0FB-8075-7BCE7214B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0B5DCF55-11DD-4B5A-8915-8D70788B1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EA6C4AE-A851-46E4-B835-710B0EDA77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5306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2228" y="3915527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421ABD-D481-48A3-8970-498FF2124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711088D8-07DB-4A9A-A580-02925D68F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B3FE2AE-9760-4C6D-9563-D3ADB5EF33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65552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35BBC92-1B44-4EB4-A842-82AD668B1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BDB4E2F-3ACC-41D9-94D4-2F535908A5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C4811B2C-97DF-48E7-8B5B-4B5A6121E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898413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558" y="-3257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000" y="-387808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B6DCF1B-518E-4260-968D-F2B004FE5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6036BE2-18B3-4D0D-AFFE-79E5AEF2F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4C638DE2-EB32-4719-8919-AA8625048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558163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457" y="54662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23" y="342900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7599F31-1E74-43A5-BAA2-8C659BFFC4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E84827AD-0CA9-4CC7-98A0-6256C6BFA3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D7B6408-99CE-4AF6-A225-BBE89B431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328090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81A1D44E-36B7-4B56-819F-C666D3A90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A94BD06B-7880-4088-940C-BCDED9E489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8423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184" y="4684052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F7304543-6D34-0AB9-DB47-B0158F53B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C359018C-9FB8-41D3-A53A-EE1F8D3C1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F1BA47F-9FD1-4EB9-87EA-DF6F893EAE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146082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584" y="3926231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0A480DE-CC52-469C-AF7B-323F57CBBF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13F0ED5-B6F8-434D-AB89-3664224B0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DC9FE3-2631-423E-BDFD-9AEFCE008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0248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E84867F1-F3F4-4276-9C58-76E45FD15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81295B8-4967-41C8-89E1-BE046752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97713EAD-23CB-4666-B0C1-CB769C80B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4209550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175" y="5437415"/>
            <a:ext cx="2841169" cy="284116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272" y="4748623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7C7FDF-4A13-4531-B5D3-9121D491A4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2A0B7E1-E0A9-4048-A9FD-9AEED72A6B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347BC832-CB59-4E92-AF47-3A0416A7F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9133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875" y="4891431"/>
            <a:ext cx="5566753" cy="556675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251" y="2202719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B370ADFE-5076-4A5C-8020-58FFBB9B9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210168E-9CEC-486D-BCD5-8C52AA364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0D0746D-BA88-4F55-AD2D-B1C42C38D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4281604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 und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4B2028-D1BF-4E44-8CF2-4B4172ABF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E06280-0FAC-44C3-99CC-BEC7BCD4D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88" y="2715925"/>
            <a:ext cx="1841521" cy="18415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A5F2EE-951E-4899-9C20-19629086BA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400" y="2698629"/>
            <a:ext cx="1843200" cy="1843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BA783E-C7BA-4608-B941-4F7FBCEAC5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112" y="2714246"/>
            <a:ext cx="1843200" cy="1843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54752F-69BA-4E8C-8DB6-09AD128627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600" y="2714246"/>
            <a:ext cx="1843200" cy="18432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FB5CC22-5AAA-43F8-982C-86C26F7F3169}"/>
              </a:ext>
            </a:extLst>
          </p:cNvPr>
          <p:cNvSpPr txBox="1"/>
          <p:nvPr userDrawn="1"/>
        </p:nvSpPr>
        <p:spPr>
          <a:xfrm>
            <a:off x="1039709" y="4665072"/>
            <a:ext cx="1446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Hauptfarbe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b="0" i="0" dirty="0">
                <a:solidFill>
                  <a:schemeClr val="tx1"/>
                </a:solidFill>
                <a:effectLst/>
              </a:rPr>
              <a:t>#f7a600</a:t>
            </a:r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171F0D3-2C27-46C4-98F3-ECFB661DAC40}"/>
              </a:ext>
            </a:extLst>
          </p:cNvPr>
          <p:cNvSpPr txBox="1"/>
          <p:nvPr userDrawn="1"/>
        </p:nvSpPr>
        <p:spPr>
          <a:xfrm>
            <a:off x="2684248" y="4665072"/>
            <a:ext cx="2668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Informationstechnologie</a:t>
            </a:r>
          </a:p>
          <a:p>
            <a:pPr algn="ctr"/>
            <a:r>
              <a:rPr lang="de-AT" dirty="0"/>
              <a:t>#6cb0d9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62EB75-B278-4570-BB01-A7714014B867}"/>
              </a:ext>
            </a:extLst>
          </p:cNvPr>
          <p:cNvSpPr txBox="1"/>
          <p:nvPr userDrawn="1"/>
        </p:nvSpPr>
        <p:spPr>
          <a:xfrm>
            <a:off x="7219844" y="4683095"/>
            <a:ext cx="2083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Energie &amp; Umwelt</a:t>
            </a:r>
            <a:br>
              <a:rPr lang="de-AT" dirty="0"/>
            </a:br>
            <a:r>
              <a:rPr lang="de-AT" dirty="0"/>
              <a:t>#87ba4a</a:t>
            </a:r>
          </a:p>
          <a:p>
            <a:pPr algn="ctr"/>
            <a:endParaRPr lang="de-AT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DE99240-1ABC-4BC5-8331-1D9D23F7FD06}"/>
              </a:ext>
            </a:extLst>
          </p:cNvPr>
          <p:cNvSpPr txBox="1"/>
          <p:nvPr userDrawn="1"/>
        </p:nvSpPr>
        <p:spPr>
          <a:xfrm>
            <a:off x="9791373" y="4665072"/>
            <a:ext cx="1360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Gesundheit</a:t>
            </a:r>
            <a:br>
              <a:rPr lang="de-AT" dirty="0"/>
            </a:br>
            <a:r>
              <a:rPr lang="de-AT" dirty="0"/>
              <a:t>#007852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0321547-914E-4CEF-8182-22B2EB9B787E}"/>
              </a:ext>
            </a:extLst>
          </p:cNvPr>
          <p:cNvSpPr txBox="1"/>
          <p:nvPr userDrawn="1"/>
        </p:nvSpPr>
        <p:spPr>
          <a:xfrm>
            <a:off x="5392696" y="4665072"/>
            <a:ext cx="1266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Wirtschaft</a:t>
            </a:r>
            <a:br>
              <a:rPr lang="de-AT" dirty="0"/>
            </a:br>
            <a:r>
              <a:rPr lang="de-AT" dirty="0"/>
              <a:t>#003a60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A0F97A-5C00-492A-8BDD-1AA790339E02}"/>
              </a:ext>
            </a:extLst>
          </p:cNvPr>
          <p:cNvSpPr txBox="1"/>
          <p:nvPr userDrawn="1"/>
        </p:nvSpPr>
        <p:spPr>
          <a:xfrm>
            <a:off x="838200" y="328468"/>
            <a:ext cx="518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rgbClr val="FAA942"/>
                </a:solidFill>
              </a:rPr>
              <a:t>Formen und Farben: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7CBE699-2365-4FD1-A803-7BE59F8AC2F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7" y="2651641"/>
            <a:ext cx="1843200" cy="18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924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06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93" r:id="rId5"/>
    <p:sldLayoutId id="2147483692" r:id="rId6"/>
    <p:sldLayoutId id="2147483690" r:id="rId7"/>
    <p:sldLayoutId id="2147483691" r:id="rId8"/>
    <p:sldLayoutId id="2147483664" r:id="rId9"/>
    <p:sldLayoutId id="2147483663" r:id="rId10"/>
    <p:sldLayoutId id="2147483666" r:id="rId11"/>
    <p:sldLayoutId id="2147483667" r:id="rId12"/>
    <p:sldLayoutId id="2147483665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9" r:id="rId24"/>
    <p:sldLayoutId id="2147483678" r:id="rId25"/>
    <p:sldLayoutId id="2147483680" r:id="rId26"/>
    <p:sldLayoutId id="2147483681" r:id="rId27"/>
    <p:sldLayoutId id="2147483682" r:id="rId28"/>
    <p:sldLayoutId id="2147483683" r:id="rId29"/>
    <p:sldLayoutId id="2147483685" r:id="rId30"/>
    <p:sldLayoutId id="2147483684" r:id="rId31"/>
    <p:sldLayoutId id="2147483686" r:id="rId32"/>
    <p:sldLayoutId id="2147483688" r:id="rId33"/>
    <p:sldLayoutId id="2147483687" r:id="rId34"/>
    <p:sldLayoutId id="2147483689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508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DA8DE6-FFA1-4335-AD36-2E4EA6D3A3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96FAB6C-3E60-49F6-8B79-C28D2AF7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Bibliotheks-verwaltung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7B3ABC-57D2-4097-B711-9B89C9DF1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/>
              <a:t>Kick-Off Präsentation</a:t>
            </a:r>
          </a:p>
          <a:p>
            <a:r>
              <a:rPr lang="de-AT" dirty="0"/>
              <a:t>Reisinger &amp; Mitsch</a:t>
            </a:r>
          </a:p>
        </p:txBody>
      </p:sp>
    </p:spTree>
    <p:extLst>
      <p:ext uri="{BB962C8B-B14F-4D97-AF65-F5344CB8AC3E}">
        <p14:creationId xmlns:p14="http://schemas.microsoft.com/office/powerpoint/2010/main" val="280106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1D16-0342-A5ED-F42C-BEB2E278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E7B307-9B48-7367-F88B-4CF4C87623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9CCBD-FD8E-2F99-691A-261856336B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T" dirty="0"/>
              <a:t>Bücher Verleih</a:t>
            </a:r>
          </a:p>
          <a:p>
            <a:pPr lvl="1"/>
            <a:r>
              <a:rPr lang="en-AT" dirty="0"/>
              <a:t>Kund:innen können maximal 5 Bücher gleichzeitig haben</a:t>
            </a:r>
          </a:p>
          <a:p>
            <a:pPr lvl="1"/>
            <a:r>
              <a:rPr lang="en-AT" dirty="0"/>
              <a:t>Verleih-Historie inkl. Datum der Ausleihe / Rückgabe</a:t>
            </a:r>
          </a:p>
          <a:p>
            <a:r>
              <a:rPr lang="en-AT" dirty="0"/>
              <a:t>Bücher Kontext Informationen (Standort, Genre, Publisher, Author:innen,…)</a:t>
            </a:r>
          </a:p>
          <a:p>
            <a:r>
              <a:rPr lang="en-AT" dirty="0"/>
              <a:t>Veranstaltungen (z.B. Lesungen, Autogrammstunden)</a:t>
            </a:r>
          </a:p>
          <a:p>
            <a:pPr marL="0" indent="0">
              <a:buNone/>
            </a:pPr>
            <a:endParaRPr lang="en-AT" dirty="0"/>
          </a:p>
          <a:p>
            <a:endParaRPr lang="en-AT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9A221-D0A8-9661-2C6A-B6CA8D92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Anforderungen Bibliotheksverwaltung</a:t>
            </a:r>
          </a:p>
        </p:txBody>
      </p:sp>
    </p:spTree>
    <p:extLst>
      <p:ext uri="{BB962C8B-B14F-4D97-AF65-F5344CB8AC3E}">
        <p14:creationId xmlns:p14="http://schemas.microsoft.com/office/powerpoint/2010/main" val="372672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7C9F-105F-5BBA-0E87-AB7BEEC2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Entity Relationship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62C2-C137-D5FE-12DB-8DF69DA5A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1449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61CAF5-7770-00FC-157E-C9AC6DA6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ECD5E2-5D44-D941-2B03-B1633582D4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173DA-A33B-B557-B304-95ABAFD45D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T" dirty="0"/>
              <a:t>Kund:innen können an 0 bis beliebig vielen Events teilnehmen</a:t>
            </a:r>
          </a:p>
          <a:p>
            <a:r>
              <a:rPr lang="en-AT" dirty="0"/>
              <a:t>Ein Event muss 1 bis beliebig viele Teilnehmer:innen haben</a:t>
            </a:r>
          </a:p>
          <a:p>
            <a:endParaRPr lang="en-A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29306-C445-F591-EC5E-EE4D9EF1D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/>
          <a:stretch>
            <a:fillRect/>
          </a:stretch>
        </p:blipFill>
        <p:spPr>
          <a:xfrm>
            <a:off x="8843749" y="0"/>
            <a:ext cx="3142302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C207D3-28F9-5655-8EDC-F2C9C182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Implementierung der Anforderungen</a:t>
            </a:r>
          </a:p>
        </p:txBody>
      </p:sp>
    </p:spTree>
    <p:extLst>
      <p:ext uri="{BB962C8B-B14F-4D97-AF65-F5344CB8AC3E}">
        <p14:creationId xmlns:p14="http://schemas.microsoft.com/office/powerpoint/2010/main" val="407020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1E0D63-BEAA-BFF0-BC87-B4CD9920FB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4A5C1-096E-326C-C97D-D3F5579D47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T" dirty="0"/>
              <a:t>Kund:innen können zwischen 0 und 5 Büchern ausgeborgt haben</a:t>
            </a:r>
          </a:p>
          <a:p>
            <a:r>
              <a:rPr lang="en-AT" dirty="0"/>
              <a:t>Eigene Tabelle für eine Verleih-Historie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FD2652-E984-B222-4620-149B6CD3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Implementierung der Anforderungen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2B9F1-C5B9-86AF-9898-0BC1F5591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8" t="32336" r="-1721" b="46256"/>
          <a:stretch>
            <a:fillRect/>
          </a:stretch>
        </p:blipFill>
        <p:spPr>
          <a:xfrm>
            <a:off x="5160196" y="3644720"/>
            <a:ext cx="6411117" cy="24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69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391F-607D-7618-C6B0-494A486B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FF0C8B-624F-4F33-094C-708C50ED1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-1"/>
            <a:ext cx="5552342" cy="68580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F6FF73-0D6F-AC93-68FD-A0DEACA47A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DDA23-2F53-9BF3-CAF1-31AB521017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Kontext-Informationen rund um Bücher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33DBD-97DB-FC18-131C-625D853B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6F307-FA18-AAFF-6406-F732AE6AD904}"/>
              </a:ext>
            </a:extLst>
          </p:cNvPr>
          <p:cNvSpPr/>
          <p:nvPr/>
        </p:nvSpPr>
        <p:spPr>
          <a:xfrm>
            <a:off x="6311802" y="3672788"/>
            <a:ext cx="3637416" cy="318521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2102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C7AA-209A-D224-C74F-F1689558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494F12-5847-8842-C2D4-3EDE6584F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9A3AB-4A02-55C3-0D88-EBB76AB382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Informationen rund um Kund:innen sowie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99BB1C-A4FA-2C4A-021A-3B01D31D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1099C-801B-35E3-E4FB-48C8C0429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0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7DDB40-87CE-DE47-FBE6-64E6D9F0AE2D}"/>
              </a:ext>
            </a:extLst>
          </p:cNvPr>
          <p:cNvSpPr/>
          <p:nvPr/>
        </p:nvSpPr>
        <p:spPr>
          <a:xfrm>
            <a:off x="9880978" y="2387065"/>
            <a:ext cx="2311021" cy="44709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08344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CD3E-7885-1A96-72C2-6110109A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D2E0CA-20D8-E63A-411A-0B9D64027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A7EAD-5D40-F284-3A52-486D01B8B4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Wo ist ein Buch aktuell physisch auffindbar?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9120F7-BB5A-A5AE-8B0A-33D6D025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677AB-2FB9-CD05-2767-2D41AF6A9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0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DC9DD-89AA-A4B6-1393-62E1E4E5569B}"/>
              </a:ext>
            </a:extLst>
          </p:cNvPr>
          <p:cNvSpPr/>
          <p:nvPr/>
        </p:nvSpPr>
        <p:spPr>
          <a:xfrm>
            <a:off x="6892119" y="1"/>
            <a:ext cx="3698544" cy="20471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7333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4134-A5C9-C6E5-0831-2DAC4854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457A27-A667-4E89-7340-89118DDFA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88409-CF01-2BEC-28C4-DA866B7C94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Welche Bücher sind wann von wem ausgeborgt worden und sind diese aktuell lagernd?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601FFD-D4C9-7235-F243-3A48CE68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0B8A3-EBB0-2282-91A9-63B1240B1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0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3296E0-149A-4EE9-B93E-79D316000A54}"/>
              </a:ext>
            </a:extLst>
          </p:cNvPr>
          <p:cNvSpPr/>
          <p:nvPr/>
        </p:nvSpPr>
        <p:spPr>
          <a:xfrm>
            <a:off x="6311802" y="2405418"/>
            <a:ext cx="3698544" cy="13613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5267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ACFF-406E-DAB8-45C2-BE155F72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94F161-A27B-399F-D586-2114BDD347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246" y="2001279"/>
            <a:ext cx="10855069" cy="663370"/>
          </a:xfrm>
        </p:spPr>
        <p:txBody>
          <a:bodyPr/>
          <a:lstStyle/>
          <a:p>
            <a:r>
              <a:rPr lang="en-AT" dirty="0"/>
              <a:t>Warum wird der Lager-Status aktuell </a:t>
            </a:r>
            <a:br>
              <a:rPr lang="en-AT" dirty="0"/>
            </a:br>
            <a:r>
              <a:rPr lang="en-AT" dirty="0"/>
              <a:t>doppelt gespeichert?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96A46-2E2A-3859-A045-192934D075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741205"/>
            <a:ext cx="10855071" cy="3890331"/>
          </a:xfrm>
        </p:spPr>
        <p:txBody>
          <a:bodyPr/>
          <a:lstStyle/>
          <a:p>
            <a:r>
              <a:rPr lang="en-AT" dirty="0"/>
              <a:t>Bewusst doppelte Implementierung – </a:t>
            </a:r>
            <a:br>
              <a:rPr lang="en-AT" dirty="0"/>
            </a:br>
            <a:r>
              <a:rPr lang="en-AT" dirty="0"/>
              <a:t>simplere Read-Query, potenziell performanter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77807D-6694-6307-60ED-0A227928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”Buch ist lagerend”-Status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D2D74-DF49-F655-280A-367CB1F4F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0" t="36067" r="72126" b="46565"/>
          <a:stretch>
            <a:fillRect/>
          </a:stretch>
        </p:blipFill>
        <p:spPr>
          <a:xfrm>
            <a:off x="849886" y="3774185"/>
            <a:ext cx="3655215" cy="2664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21717C-19FE-B400-A8EA-950263AD7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454" y="26282"/>
            <a:ext cx="2852396" cy="3523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D6B5D0-BDD1-2FBD-A78C-14E987AA4DF6}"/>
              </a:ext>
            </a:extLst>
          </p:cNvPr>
          <p:cNvSpPr/>
          <p:nvPr/>
        </p:nvSpPr>
        <p:spPr>
          <a:xfrm>
            <a:off x="8939284" y="1242750"/>
            <a:ext cx="1775939" cy="545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94ADD2-007A-FF6D-DAAC-66602938DF6E}"/>
              </a:ext>
            </a:extLst>
          </p:cNvPr>
          <p:cNvCxnSpPr/>
          <p:nvPr/>
        </p:nvCxnSpPr>
        <p:spPr>
          <a:xfrm flipH="1">
            <a:off x="8297839" y="1787857"/>
            <a:ext cx="1037230" cy="18424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12F508-B9C9-4ABD-5E8E-DB1AA6811381}"/>
              </a:ext>
            </a:extLst>
          </p:cNvPr>
          <p:cNvCxnSpPr>
            <a:cxnSpLocks/>
          </p:cNvCxnSpPr>
          <p:nvPr/>
        </p:nvCxnSpPr>
        <p:spPr>
          <a:xfrm flipH="1">
            <a:off x="4308389" y="1530003"/>
            <a:ext cx="4535335" cy="25889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E158CF6-E1E3-094A-CA45-F1D5E5AA0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8" t="34018" r="37383" b="47065"/>
          <a:stretch>
            <a:fillRect/>
          </a:stretch>
        </p:blipFill>
        <p:spPr>
          <a:xfrm>
            <a:off x="6611564" y="3839653"/>
            <a:ext cx="3372549" cy="266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DB16-5760-0417-8997-A7F877C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0F5B-79D4-0C3A-7A1C-186B5097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Relationales Datenmodell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940A-0B33-FEF2-7A3C-A7864D8FD2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1741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 BGLD GRAU CMY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6F6447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167</Words>
  <Application>Microsoft Macintosh PowerPoint</Application>
  <PresentationFormat>Widescreen</PresentationFormat>
  <Paragraphs>28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Source Sans Pro</vt:lpstr>
      <vt:lpstr>Tahoma</vt:lpstr>
      <vt:lpstr>Office</vt:lpstr>
      <vt:lpstr>Bibliotheks-verwaltung</vt:lpstr>
      <vt:lpstr>Anforderungen Bibliotheksverwaltung</vt:lpstr>
      <vt:lpstr>Entity Relationship Diagram</vt:lpstr>
      <vt:lpstr>Implementierung der Anforderungen</vt:lpstr>
      <vt:lpstr>Implementierung der Anforderungen</vt:lpstr>
      <vt:lpstr>Abgedeckte Bereiche</vt:lpstr>
      <vt:lpstr>Abgedeckte Bereiche</vt:lpstr>
      <vt:lpstr>Abgedeckte Bereiche</vt:lpstr>
      <vt:lpstr>Abgedeckte Bereiche</vt:lpstr>
      <vt:lpstr>”Buch ist lagerend”-Status</vt:lpstr>
      <vt:lpstr>Relationales Datenmodell</vt:lpstr>
    </vt:vector>
  </TitlesOfParts>
  <Company>FH-Burgenland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Reinprecht Sarah</dc:creator>
  <cp:lastModifiedBy>Paul Mitsch</cp:lastModifiedBy>
  <cp:revision>85</cp:revision>
  <dcterms:created xsi:type="dcterms:W3CDTF">2019-09-09T08:59:08Z</dcterms:created>
  <dcterms:modified xsi:type="dcterms:W3CDTF">2026-05-13T08:49:03Z</dcterms:modified>
</cp:coreProperties>
</file>